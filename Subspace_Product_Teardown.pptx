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3E071-5664-08D5-2536-866EBF6C0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79630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chemeClr val="accent6">
                    <a:lumMod val="50000"/>
                  </a:schemeClr>
                </a:solidFill>
              </a:rPr>
              <a:t>Subspace.money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Product Teardown</a:t>
            </a:r>
            <a:b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Product Intern Assignment 2026</a:t>
            </a:r>
            <a:endParaRPr lang="en-IN" sz="3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1D7136-E2A7-997D-96AC-F3D88CA76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824748"/>
            <a:ext cx="8637072" cy="766917"/>
          </a:xfrm>
        </p:spPr>
        <p:txBody>
          <a:bodyPr/>
          <a:lstStyle/>
          <a:p>
            <a:r>
              <a:rPr lang="en-US" b="1" dirty="0"/>
              <a:t>Prepared By:</a:t>
            </a:r>
            <a:r>
              <a:rPr lang="en-US" dirty="0"/>
              <a:t> Mannepalli Tharunya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167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83ECD6-C08E-AD54-13C1-DA22A2DFD119}"/>
              </a:ext>
            </a:extLst>
          </p:cNvPr>
          <p:cNvSpPr txBox="1"/>
          <p:nvPr/>
        </p:nvSpPr>
        <p:spPr>
          <a:xfrm>
            <a:off x="403123" y="422787"/>
            <a:ext cx="107761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Executive Summary</a:t>
            </a:r>
          </a:p>
          <a:p>
            <a:pPr>
              <a:buNone/>
            </a:pPr>
            <a:r>
              <a:rPr lang="en-US" b="1" dirty="0"/>
              <a:t>Objective</a:t>
            </a:r>
          </a:p>
          <a:p>
            <a:pPr>
              <a:buNone/>
            </a:pPr>
            <a:r>
              <a:rPr lang="en-US" dirty="0"/>
              <a:t>The objective of this teardown is to evaluate </a:t>
            </a:r>
            <a:r>
              <a:rPr lang="en-US" dirty="0" err="1"/>
              <a:t>Subspace.money</a:t>
            </a:r>
            <a:r>
              <a:rPr lang="en-US" dirty="0"/>
              <a:t> from the perspective of a real user and identify high-impact product improvements across GTM, Competitor Analysis, Features &amp; Services, UX, and Potential Collaborations.</a:t>
            </a:r>
          </a:p>
          <a:p>
            <a:pPr>
              <a:buNone/>
            </a:pPr>
            <a:r>
              <a:rPr lang="en-US" b="1" dirty="0"/>
              <a:t>Research Approach</a:t>
            </a:r>
          </a:p>
          <a:p>
            <a:pPr>
              <a:buNone/>
            </a:pPr>
            <a:r>
              <a:rPr lang="en-US" dirty="0"/>
              <a:t>To conduct this analysis, I explored: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Homepage and navigation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Gift card marketplace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 detail pages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Login 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Wallet section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Chat section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Cart and checkout flow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 experience </a:t>
            </a:r>
          </a:p>
          <a:p>
            <a:pPr>
              <a:buNone/>
            </a:pPr>
            <a:r>
              <a:rPr lang="en-US" dirty="0"/>
              <a:t>Based on this exploration, I identified five product opportunities that can improve user acquisition, trust, conversion,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1228031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582C8C-133B-1BB9-86AD-94D486E5D13F}"/>
              </a:ext>
            </a:extLst>
          </p:cNvPr>
          <p:cNvSpPr txBox="1"/>
          <p:nvPr/>
        </p:nvSpPr>
        <p:spPr>
          <a:xfrm>
            <a:off x="639098" y="835743"/>
            <a:ext cx="1069749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Product Overview</a:t>
            </a:r>
          </a:p>
          <a:p>
            <a:pPr>
              <a:buNone/>
            </a:pPr>
            <a:r>
              <a:rPr lang="en-US" b="1" dirty="0"/>
              <a:t>What is </a:t>
            </a:r>
            <a:r>
              <a:rPr lang="en-US" b="1" dirty="0" err="1"/>
              <a:t>Subspace.money</a:t>
            </a:r>
            <a:r>
              <a:rPr lang="en-US" b="1" dirty="0"/>
              <a:t>?</a:t>
            </a:r>
          </a:p>
          <a:p>
            <a:pPr>
              <a:buNone/>
            </a:pPr>
            <a:r>
              <a:rPr lang="en-US" dirty="0" err="1"/>
              <a:t>Subspace.money</a:t>
            </a:r>
            <a:r>
              <a:rPr lang="en-US" dirty="0"/>
              <a:t> is a subscription marketplace that enables users to save money on recurring purchases through: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Shared subscriptions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Discounted gift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Subscription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Expense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finance </a:t>
            </a:r>
          </a:p>
          <a:p>
            <a:pPr>
              <a:buNone/>
            </a:pPr>
            <a:r>
              <a:rPr lang="en-US" b="1" dirty="0"/>
              <a:t>Key Strength</a:t>
            </a:r>
          </a:p>
          <a:p>
            <a:pPr>
              <a:buNone/>
            </a:pPr>
            <a:r>
              <a:rPr lang="en-US" dirty="0"/>
              <a:t>The platform combines subscription savings and financial management into a single ecosystem, helping users reduce recurring expenses.</a:t>
            </a:r>
          </a:p>
        </p:txBody>
      </p:sp>
    </p:spTree>
    <p:extLst>
      <p:ext uri="{BB962C8B-B14F-4D97-AF65-F5344CB8AC3E}">
        <p14:creationId xmlns:p14="http://schemas.microsoft.com/office/powerpoint/2010/main" val="309488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F7B1BB-331A-5A93-C52C-304E4FB80D43}"/>
              </a:ext>
            </a:extLst>
          </p:cNvPr>
          <p:cNvSpPr txBox="1"/>
          <p:nvPr/>
        </p:nvSpPr>
        <p:spPr>
          <a:xfrm>
            <a:off x="314633" y="385093"/>
            <a:ext cx="1113011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SWOT Analysis</a:t>
            </a:r>
          </a:p>
          <a:p>
            <a:pPr>
              <a:buNone/>
            </a:pPr>
            <a:r>
              <a:rPr lang="en-US" b="1" dirty="0"/>
              <a:t>Strengths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discount-driven value proposition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Wide variety of subscription brands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Profitable and bootstrapped business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AI-powered operations </a:t>
            </a:r>
          </a:p>
          <a:p>
            <a:pPr>
              <a:buNone/>
            </a:pPr>
            <a:r>
              <a:rPr lang="en-US" b="1" dirty="0"/>
              <a:t>Weaknesses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Unclear target audience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trust-building elements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Savings value not highlighted enough </a:t>
            </a:r>
          </a:p>
          <a:p>
            <a:pPr>
              <a:buNone/>
            </a:pPr>
            <a:r>
              <a:rPr lang="en-US" b="1" dirty="0"/>
              <a:t>Opportunities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Student subscription market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Local subscription ecosystem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Strategic partnerships </a:t>
            </a:r>
          </a:p>
          <a:p>
            <a:pPr>
              <a:buNone/>
            </a:pPr>
            <a:r>
              <a:rPr lang="en-US" b="1" dirty="0"/>
              <a:t>Threats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Splitwise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Paytm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subscription marketplaces</a:t>
            </a:r>
          </a:p>
        </p:txBody>
      </p:sp>
    </p:spTree>
    <p:extLst>
      <p:ext uri="{BB962C8B-B14F-4D97-AF65-F5344CB8AC3E}">
        <p14:creationId xmlns:p14="http://schemas.microsoft.com/office/powerpoint/2010/main" val="197073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34993B-EE21-C331-91F9-FE249AB9A6E9}"/>
              </a:ext>
            </a:extLst>
          </p:cNvPr>
          <p:cNvSpPr txBox="1"/>
          <p:nvPr/>
        </p:nvSpPr>
        <p:spPr>
          <a:xfrm>
            <a:off x="393290" y="248795"/>
            <a:ext cx="1117927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Feedback #1 (GTM &amp; ICP)</a:t>
            </a:r>
          </a:p>
          <a:p>
            <a:pPr>
              <a:buNone/>
            </a:pPr>
            <a:r>
              <a:rPr lang="en-US" b="1" dirty="0"/>
              <a:t>Observation</a:t>
            </a:r>
          </a:p>
          <a:p>
            <a:pPr>
              <a:buNone/>
            </a:pPr>
            <a:r>
              <a:rPr lang="en-US" dirty="0"/>
              <a:t>The homepage simultaneously promotes: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Gift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Shared Subscriptions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Rentals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Wallet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Group Finance </a:t>
            </a:r>
          </a:p>
          <a:p>
            <a:pPr>
              <a:buNone/>
            </a:pPr>
            <a:r>
              <a:rPr lang="en-US" dirty="0"/>
              <a:t>However, the platform does not clearly identify its primary customer segment.</a:t>
            </a:r>
          </a:p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Students, professionals, and families all receive the same experience.</a:t>
            </a:r>
          </a:p>
          <a:p>
            <a:pPr>
              <a:buNone/>
            </a:pPr>
            <a:r>
              <a:rPr lang="en-US" dirty="0"/>
              <a:t>This weakens positioning and increases cognitive load.</a:t>
            </a:r>
          </a:p>
          <a:p>
            <a:pPr>
              <a:buNone/>
            </a:pPr>
            <a:r>
              <a:rPr lang="en-US" dirty="0"/>
              <a:t>Visitors need to understand:</a:t>
            </a:r>
          </a:p>
          <a:p>
            <a:pPr>
              <a:buNone/>
            </a:pPr>
            <a:r>
              <a:rPr lang="en-US" dirty="0"/>
              <a:t>"Is this product specifically for me?"</a:t>
            </a:r>
          </a:p>
          <a:p>
            <a:pPr>
              <a:buNone/>
            </a:pPr>
            <a:r>
              <a:rPr lang="en-US" dirty="0"/>
              <a:t>within a few seconds.</a:t>
            </a:r>
          </a:p>
          <a:p>
            <a:pPr>
              <a:buNone/>
            </a:pPr>
            <a:r>
              <a:rPr lang="en-US" b="1" dirty="0"/>
              <a:t>Ship Instead</a:t>
            </a:r>
          </a:p>
          <a:p>
            <a:pPr>
              <a:buNone/>
            </a:pPr>
            <a:r>
              <a:rPr lang="en-US" dirty="0"/>
              <a:t>Create segment-specific journeys:</a:t>
            </a:r>
          </a:p>
          <a:p>
            <a:pPr>
              <a:buNone/>
            </a:pPr>
            <a:r>
              <a:rPr lang="en-US" b="1" dirty="0"/>
              <a:t>Students</a:t>
            </a:r>
          </a:p>
          <a:p>
            <a:pPr>
              <a:buNone/>
            </a:pPr>
            <a:r>
              <a:rPr lang="en-US" dirty="0"/>
              <a:t>Netflix, Spotify, YouTube Premium</a:t>
            </a:r>
          </a:p>
          <a:p>
            <a:pPr>
              <a:buNone/>
            </a:pPr>
            <a:r>
              <a:rPr lang="en-US" b="1" dirty="0"/>
              <a:t>Families</a:t>
            </a:r>
          </a:p>
          <a:p>
            <a:pPr>
              <a:buNone/>
            </a:pPr>
            <a:r>
              <a:rPr lang="en-US" dirty="0"/>
              <a:t>Subscription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3617724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D77DF-07D9-1304-7C0E-77E7DBAACB5D}"/>
              </a:ext>
            </a:extLst>
          </p:cNvPr>
          <p:cNvSpPr txBox="1"/>
          <p:nvPr/>
        </p:nvSpPr>
        <p:spPr>
          <a:xfrm>
            <a:off x="245807" y="66221"/>
            <a:ext cx="1151357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Feedback #2 — Competitor Analysis</a:t>
            </a:r>
          </a:p>
          <a:p>
            <a:pPr>
              <a:buNone/>
            </a:pPr>
            <a:r>
              <a:rPr lang="en-US" b="1" dirty="0"/>
              <a:t>Observed</a:t>
            </a:r>
          </a:p>
          <a:p>
            <a:pPr>
              <a:buNone/>
            </a:pPr>
            <a:r>
              <a:rPr lang="en-US" dirty="0"/>
              <a:t>Subspace displays discounted prices effectively. However, compared to platforms like CRED, the platform does not prominently highlight how much money users have saved over time.</a:t>
            </a:r>
          </a:p>
          <a:p>
            <a:pPr>
              <a:buNone/>
            </a:pPr>
            <a:r>
              <a:rPr lang="en-US" dirty="0"/>
              <a:t>For example:</a:t>
            </a:r>
          </a:p>
          <a:p>
            <a:pPr>
              <a:buNone/>
            </a:pPr>
            <a:r>
              <a:rPr lang="en-US" dirty="0"/>
              <a:t>₹1000 Gift Card → ₹955</a:t>
            </a:r>
          </a:p>
          <a:p>
            <a:pPr>
              <a:buNone/>
            </a:pPr>
            <a:r>
              <a:rPr lang="en-US" dirty="0"/>
              <a:t>but the user is not shown:</a:t>
            </a:r>
          </a:p>
          <a:p>
            <a:pPr>
              <a:buNone/>
            </a:pPr>
            <a:r>
              <a:rPr lang="en-US" dirty="0"/>
              <a:t>"You saved ₹45"</a:t>
            </a:r>
          </a:p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The core value proposition of Subspace is saving money. When savings are not continuously reinforced, users may not fully appreciate the value generated by the platform.</a:t>
            </a:r>
          </a:p>
          <a:p>
            <a:pPr>
              <a:buNone/>
            </a:pPr>
            <a:r>
              <a:rPr lang="en-US" b="1" dirty="0"/>
              <a:t>Ship Instead</a:t>
            </a:r>
          </a:p>
          <a:p>
            <a:pPr>
              <a:buNone/>
            </a:pPr>
            <a:r>
              <a:rPr lang="en-US" dirty="0"/>
              <a:t>Introduce savings tracking across the platform: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Savings on each purchase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Monthly savings summary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Lifetime savings dashboard </a:t>
            </a:r>
          </a:p>
          <a:p>
            <a:pPr>
              <a:buNone/>
            </a:pPr>
            <a:r>
              <a:rPr lang="en-US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user engagement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Stronger retention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product differentiation </a:t>
            </a:r>
          </a:p>
          <a:p>
            <a:pPr>
              <a:buNone/>
            </a:pPr>
            <a:r>
              <a:rPr lang="en-US" dirty="0"/>
              <a:t>Priority: P1</a:t>
            </a:r>
          </a:p>
        </p:txBody>
      </p:sp>
    </p:spTree>
    <p:extLst>
      <p:ext uri="{BB962C8B-B14F-4D97-AF65-F5344CB8AC3E}">
        <p14:creationId xmlns:p14="http://schemas.microsoft.com/office/powerpoint/2010/main" val="1338231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6A8054-2E3E-2890-484E-4A26CE920A43}"/>
              </a:ext>
            </a:extLst>
          </p:cNvPr>
          <p:cNvSpPr txBox="1"/>
          <p:nvPr/>
        </p:nvSpPr>
        <p:spPr>
          <a:xfrm>
            <a:off x="127819" y="78658"/>
            <a:ext cx="1233948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Feedback #3 — Features &amp; Services</a:t>
            </a:r>
          </a:p>
          <a:p>
            <a:pPr>
              <a:buNone/>
            </a:pPr>
            <a:r>
              <a:rPr lang="en-US" b="1" dirty="0"/>
              <a:t>Observed</a:t>
            </a:r>
          </a:p>
          <a:p>
            <a:pPr>
              <a:buNone/>
            </a:pPr>
            <a:r>
              <a:rPr lang="en-US" dirty="0"/>
              <a:t>The wallet section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Locked Amount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Unlocked Amount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Withdraw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 </a:t>
            </a:r>
          </a:p>
          <a:p>
            <a:pPr>
              <a:buNone/>
            </a:pPr>
            <a:r>
              <a:rPr lang="en-US" dirty="0"/>
              <a:t>However, there is no explanation of how these values work.</a:t>
            </a:r>
          </a:p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For new users, terms such as "Locked Amount" and "Unlocked Amount" may be confusing. Financial products rely heavily on transparency and trust.</a:t>
            </a:r>
          </a:p>
          <a:p>
            <a:pPr>
              <a:buNone/>
            </a:pPr>
            <a:r>
              <a:rPr lang="en-US" dirty="0"/>
              <a:t>Lack of explanation can increase support requests and reduce wallet adoption.</a:t>
            </a:r>
          </a:p>
          <a:p>
            <a:pPr>
              <a:buNone/>
            </a:pPr>
            <a:r>
              <a:rPr lang="en-US" b="1" dirty="0"/>
              <a:t>Ship Instead</a:t>
            </a:r>
          </a:p>
          <a:p>
            <a:pPr>
              <a:buNone/>
            </a:pPr>
            <a:r>
              <a:rPr lang="en-US" dirty="0"/>
              <a:t>Introduce a "How Wallet Works" section explaining:</a:t>
            </a:r>
          </a:p>
          <a:p>
            <a:pPr>
              <a:buFont typeface="+mj-lt"/>
              <a:buAutoNum type="arabicPeriod"/>
            </a:pPr>
            <a:r>
              <a:rPr lang="en-US" dirty="0"/>
              <a:t>Adding funds </a:t>
            </a:r>
          </a:p>
          <a:p>
            <a:pPr>
              <a:buFont typeface="+mj-lt"/>
              <a:buAutoNum type="arabicPeriod"/>
            </a:pPr>
            <a:r>
              <a:rPr lang="en-US" dirty="0"/>
              <a:t>Using funds for purchases </a:t>
            </a:r>
          </a:p>
          <a:p>
            <a:pPr>
              <a:buFont typeface="+mj-lt"/>
              <a:buAutoNum type="arabicPeriod"/>
            </a:pPr>
            <a:r>
              <a:rPr lang="en-US" dirty="0"/>
              <a:t>Receiving refunds </a:t>
            </a:r>
          </a:p>
          <a:p>
            <a:pPr>
              <a:buFont typeface="+mj-lt"/>
              <a:buAutoNum type="arabicPeriod"/>
            </a:pPr>
            <a:r>
              <a:rPr lang="en-US" dirty="0"/>
              <a:t>Withdrawing available balance </a:t>
            </a:r>
          </a:p>
          <a:p>
            <a:pPr>
              <a:buNone/>
            </a:pPr>
            <a:r>
              <a:rPr lang="en-US" dirty="0"/>
              <a:t>Include tooltips beside wallet terminology.</a:t>
            </a:r>
          </a:p>
          <a:p>
            <a:pPr>
              <a:buNone/>
            </a:pPr>
            <a:r>
              <a:rPr lang="en-US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trust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support burden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90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6D6A3C7-2B2C-A6D5-EA44-9F44B2A7E7BD}"/>
              </a:ext>
            </a:extLst>
          </p:cNvPr>
          <p:cNvSpPr txBox="1"/>
          <p:nvPr/>
        </p:nvSpPr>
        <p:spPr>
          <a:xfrm>
            <a:off x="235973" y="343220"/>
            <a:ext cx="1168072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Feedback #4 — UX</a:t>
            </a:r>
          </a:p>
          <a:p>
            <a:pPr>
              <a:buNone/>
            </a:pPr>
            <a:r>
              <a:rPr lang="en-US" b="1" dirty="0"/>
              <a:t>Observed</a:t>
            </a:r>
          </a:p>
          <a:p>
            <a:pPr>
              <a:buNone/>
            </a:pPr>
            <a:r>
              <a:rPr lang="en-US" dirty="0"/>
              <a:t>The platform prominently displays:</a:t>
            </a:r>
          </a:p>
          <a:p>
            <a:pPr>
              <a:buNone/>
            </a:pPr>
            <a:r>
              <a:rPr lang="en-US" dirty="0"/>
              <a:t>"Delivery in Minutes"</a:t>
            </a:r>
          </a:p>
          <a:p>
            <a:pPr>
              <a:buNone/>
            </a:pPr>
            <a:r>
              <a:rPr lang="en-US" dirty="0"/>
              <a:t>along with a physical delivery location.</a:t>
            </a:r>
          </a:p>
          <a:p>
            <a:pPr>
              <a:buNone/>
            </a:pPr>
            <a:r>
              <a:rPr lang="en-US" dirty="0"/>
              <a:t>However, most products on the platform are digital products such as subscriptions and gift cards.</a:t>
            </a:r>
          </a:p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This creates a mismatch between user expectations and the actual service model.</a:t>
            </a:r>
          </a:p>
          <a:p>
            <a:pPr>
              <a:buNone/>
            </a:pPr>
            <a:r>
              <a:rPr lang="en-US" dirty="0"/>
              <a:t>Users may associate the platform with physical commerce instead of digital access and subscription savings.</a:t>
            </a:r>
          </a:p>
          <a:p>
            <a:pPr>
              <a:buNone/>
            </a:pPr>
            <a:r>
              <a:rPr lang="en-US" b="1" dirty="0"/>
              <a:t>Ship Instead</a:t>
            </a:r>
          </a:p>
          <a:p>
            <a:pPr>
              <a:buNone/>
            </a:pPr>
            <a:r>
              <a:rPr lang="en-US" dirty="0"/>
              <a:t>Replace the messaging with:</a:t>
            </a:r>
          </a:p>
          <a:p>
            <a:pPr>
              <a:buNone/>
            </a:pPr>
            <a:r>
              <a:rPr lang="en-US" dirty="0"/>
              <a:t>⚡ Instant Digital Delivery</a:t>
            </a:r>
          </a:p>
          <a:p>
            <a:pPr>
              <a:buNone/>
            </a:pPr>
            <a:r>
              <a:rPr lang="en-US" dirty="0"/>
              <a:t>or</a:t>
            </a:r>
          </a:p>
          <a:p>
            <a:pPr>
              <a:buNone/>
            </a:pPr>
            <a:r>
              <a:rPr lang="en-US" dirty="0"/>
              <a:t>⚡ Access Your Subscription Within Minutes</a:t>
            </a:r>
          </a:p>
          <a:p>
            <a:pPr>
              <a:buNone/>
            </a:pPr>
            <a:r>
              <a:rPr lang="en-US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Stronger product positioning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Reduced confusion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first impression </a:t>
            </a:r>
          </a:p>
          <a:p>
            <a:pPr>
              <a:buNone/>
            </a:pPr>
            <a:r>
              <a:rPr lang="en-US" dirty="0"/>
              <a:t>Priority: P1</a:t>
            </a:r>
          </a:p>
        </p:txBody>
      </p:sp>
    </p:spTree>
    <p:extLst>
      <p:ext uri="{BB962C8B-B14F-4D97-AF65-F5344CB8AC3E}">
        <p14:creationId xmlns:p14="http://schemas.microsoft.com/office/powerpoint/2010/main" val="163782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4045321-3BF3-C1D9-AD21-3D5F6B13F9E6}"/>
              </a:ext>
            </a:extLst>
          </p:cNvPr>
          <p:cNvSpPr txBox="1"/>
          <p:nvPr/>
        </p:nvSpPr>
        <p:spPr>
          <a:xfrm>
            <a:off x="245806" y="204720"/>
            <a:ext cx="1171022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Feedback #5 — Potential Collaborations</a:t>
            </a:r>
          </a:p>
          <a:p>
            <a:pPr>
              <a:buNone/>
            </a:pPr>
            <a:r>
              <a:rPr lang="en-US" b="1" dirty="0"/>
              <a:t>Observed</a:t>
            </a:r>
          </a:p>
          <a:p>
            <a:pPr>
              <a:buNone/>
            </a:pPr>
            <a:r>
              <a:rPr lang="en-US" dirty="0"/>
              <a:t>The marketplace currently focuses on major national and international brands.</a:t>
            </a:r>
          </a:p>
          <a:p>
            <a:pPr>
              <a:buNone/>
            </a:pPr>
            <a:r>
              <a:rPr lang="en-US" dirty="0"/>
              <a:t>However, Subspace's stated moat highlights being India's first subscription marketplace for local providers.</a:t>
            </a:r>
          </a:p>
          <a:p>
            <a:pPr>
              <a:buNone/>
            </a:pPr>
            <a:r>
              <a:rPr lang="en-US" b="1" dirty="0"/>
              <a:t>Problem</a:t>
            </a:r>
          </a:p>
          <a:p>
            <a:pPr>
              <a:buNone/>
            </a:pPr>
            <a:r>
              <a:rPr lang="en-US" dirty="0"/>
              <a:t>This differentiation opportunity is not strongly visible to users.</a:t>
            </a:r>
          </a:p>
          <a:p>
            <a:pPr>
              <a:buNone/>
            </a:pPr>
            <a:r>
              <a:rPr lang="en-US" dirty="0"/>
              <a:t>Competing primarily through major brands makes it difficult to build a unique marketplace identity.</a:t>
            </a:r>
          </a:p>
          <a:p>
            <a:pPr>
              <a:buNone/>
            </a:pPr>
            <a:r>
              <a:rPr lang="en-US" b="1" dirty="0"/>
              <a:t>Ship Instead</a:t>
            </a:r>
          </a:p>
          <a:p>
            <a:pPr>
              <a:buNone/>
            </a:pPr>
            <a:r>
              <a:rPr lang="en-US" dirty="0"/>
              <a:t>Partner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Local gyms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Coaching centers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Regional OTT platforms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Newspapers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EdTech providers </a:t>
            </a:r>
          </a:p>
          <a:p>
            <a:pPr>
              <a:buNone/>
            </a:pPr>
            <a:r>
              <a:rPr lang="en-US" dirty="0"/>
              <a:t>Launch a dedicated Local Subscription Marketplace category.</a:t>
            </a:r>
          </a:p>
          <a:p>
            <a:pPr>
              <a:buNone/>
            </a:pPr>
            <a:r>
              <a:rPr lang="en-US" b="1" dirty="0"/>
              <a:t>Expected Impact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Stronger network effects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customer retention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Greater competitive differentiation </a:t>
            </a:r>
          </a:p>
          <a:p>
            <a:pPr>
              <a:buNone/>
            </a:pPr>
            <a:r>
              <a:rPr lang="en-US" dirty="0"/>
              <a:t>Priority: P2</a:t>
            </a:r>
          </a:p>
        </p:txBody>
      </p:sp>
    </p:spTree>
    <p:extLst>
      <p:ext uri="{BB962C8B-B14F-4D97-AF65-F5344CB8AC3E}">
        <p14:creationId xmlns:p14="http://schemas.microsoft.com/office/powerpoint/2010/main" val="51783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DA8D13-4155-AE7E-D9AF-E32BBFFF6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6712969"/>
              </p:ext>
            </p:extLst>
          </p:nvPr>
        </p:nvGraphicFramePr>
        <p:xfrm>
          <a:off x="727587" y="1188981"/>
          <a:ext cx="10022964" cy="3736978"/>
        </p:xfrm>
        <a:graphic>
          <a:graphicData uri="http://schemas.openxmlformats.org/drawingml/2006/table">
            <a:tbl>
              <a:tblPr/>
              <a:tblGrid>
                <a:gridCol w="2505741">
                  <a:extLst>
                    <a:ext uri="{9D8B030D-6E8A-4147-A177-3AD203B41FA5}">
                      <a16:colId xmlns:a16="http://schemas.microsoft.com/office/drawing/2014/main" val="1775948769"/>
                    </a:ext>
                  </a:extLst>
                </a:gridCol>
                <a:gridCol w="2505741">
                  <a:extLst>
                    <a:ext uri="{9D8B030D-6E8A-4147-A177-3AD203B41FA5}">
                      <a16:colId xmlns:a16="http://schemas.microsoft.com/office/drawing/2014/main" val="3055566244"/>
                    </a:ext>
                  </a:extLst>
                </a:gridCol>
                <a:gridCol w="2505741">
                  <a:extLst>
                    <a:ext uri="{9D8B030D-6E8A-4147-A177-3AD203B41FA5}">
                      <a16:colId xmlns:a16="http://schemas.microsoft.com/office/drawing/2014/main" val="712309302"/>
                    </a:ext>
                  </a:extLst>
                </a:gridCol>
                <a:gridCol w="2505741">
                  <a:extLst>
                    <a:ext uri="{9D8B030D-6E8A-4147-A177-3AD203B41FA5}">
                      <a16:colId xmlns:a16="http://schemas.microsoft.com/office/drawing/2014/main" val="1994006742"/>
                    </a:ext>
                  </a:extLst>
                </a:gridCol>
              </a:tblGrid>
              <a:tr h="49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Feedback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Impact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Effort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857455"/>
                  </a:ext>
                </a:extLst>
              </a:tr>
              <a:tr h="49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User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71843"/>
                  </a:ext>
                </a:extLst>
              </a:tr>
              <a:tr h="49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Savings Visibility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487582"/>
                  </a:ext>
                </a:extLst>
              </a:tr>
              <a:tr h="906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Wallet 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365571"/>
                  </a:ext>
                </a:extLst>
              </a:tr>
              <a:tr h="861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Digital Delivery Messaging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859447"/>
                  </a:ext>
                </a:extLst>
              </a:tr>
              <a:tr h="49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Local Partnerships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4231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9FD0B7-C1CD-9218-EBEA-2DCFE13F7ABA}"/>
              </a:ext>
            </a:extLst>
          </p:cNvPr>
          <p:cNvSpPr txBox="1"/>
          <p:nvPr/>
        </p:nvSpPr>
        <p:spPr>
          <a:xfrm>
            <a:off x="1034845" y="518340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Prioritization Matrix</a:t>
            </a:r>
          </a:p>
        </p:txBody>
      </p:sp>
    </p:spTree>
    <p:extLst>
      <p:ext uri="{BB962C8B-B14F-4D97-AF65-F5344CB8AC3E}">
        <p14:creationId xmlns:p14="http://schemas.microsoft.com/office/powerpoint/2010/main" val="372493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C2A3E4-A4FA-C97C-28C2-BEE45B112470}"/>
              </a:ext>
            </a:extLst>
          </p:cNvPr>
          <p:cNvSpPr txBox="1"/>
          <p:nvPr/>
        </p:nvSpPr>
        <p:spPr>
          <a:xfrm>
            <a:off x="1307690" y="1257961"/>
            <a:ext cx="945863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Conclusion</a:t>
            </a:r>
          </a:p>
          <a:p>
            <a:pPr>
              <a:buNone/>
            </a:pPr>
            <a:r>
              <a:rPr lang="en-US" dirty="0" err="1"/>
              <a:t>Subspace.money</a:t>
            </a:r>
            <a:r>
              <a:rPr lang="en-US" dirty="0"/>
              <a:t> has built a compelling platform around subscription savings and digital commerce. The strongest opportunities lie in clearer user segmentation, stronger communication of savings, improved financial transparency, clearer digital-first positioning, and expansion into local subscription ecosystems.</a:t>
            </a:r>
          </a:p>
          <a:p>
            <a:pPr>
              <a:buNone/>
            </a:pPr>
            <a:r>
              <a:rPr lang="en-US" dirty="0"/>
              <a:t>These improvements can strengthen acquisition, conversion, retention, and long-term competitive advantage while reinforcing the company's existing marketplace moat.</a:t>
            </a:r>
          </a:p>
        </p:txBody>
      </p:sp>
    </p:spTree>
    <p:extLst>
      <p:ext uri="{BB962C8B-B14F-4D97-AF65-F5344CB8AC3E}">
        <p14:creationId xmlns:p14="http://schemas.microsoft.com/office/powerpoint/2010/main" val="24066771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{72AB99A9-F502-4649-B2CC-13604107D9BA}TFc986dd65-aaf0-4d5c-bef9-9c391ee05f7b738e0fce-4a319d133af4</Template>
  <TotalTime>21</TotalTime>
  <Words>832</Words>
  <Application>Microsoft Office PowerPoint</Application>
  <PresentationFormat>Widescreen</PresentationFormat>
  <Paragraphs>184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Subspace.money Product Teardown Product Intern Assignment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mannepalli tharunya</dc:creator>
  <cp:lastModifiedBy>mannepalli tharunya</cp:lastModifiedBy>
  <cp:revision>1</cp:revision>
  <dcterms:created xsi:type="dcterms:W3CDTF">2026-05-30T15:48:36Z</dcterms:created>
  <dcterms:modified xsi:type="dcterms:W3CDTF">2026-05-30T16:10:04Z</dcterms:modified>
</cp:coreProperties>
</file>